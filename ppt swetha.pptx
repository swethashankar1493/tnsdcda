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0" d="100"/>
          <a:sy n="80" d="100"/>
        </p:scale>
        <p:origin x="4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Program%20Files\Downloads\EMPLOYEE%201.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Program%20Files\Downloads\EMPLOYEE%201.csv"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[EMPLOYEE 1.csv]EMPLOYEE 1!PivotTable1</c:name>
    <c:fmtId val="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Employee performance analysis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1">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2">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3">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4">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5">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circle"/>
          <c:size val="6"/>
          <c:spPr>
            <a:solidFill>
              <a:schemeClr val="accent6">
                <a:alpha val="85000"/>
              </a:schemeClr>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alpha val="85000"/>
            </a:schemeClr>
          </a:solidFill>
          <a:ln w="9525" cap="flat" cmpd="sng" algn="ctr">
            <a:solidFill>
              <a:schemeClr val="accent1">
                <a:lumMod val="75000"/>
              </a:schemeClr>
            </a:solidFill>
            <a:round/>
          </a:ln>
          <a:effectLst/>
          <a:sp3d contourW="9525">
            <a:contourClr>
              <a:schemeClr val="accent1">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'EMPLOYEE 1'!$B$3:$B$4</c:f>
              <c:strCache>
                <c:ptCount val="1"/>
                <c:pt idx="0">
                  <c:v>\</c:v>
                </c:pt>
              </c:strCache>
            </c:strRef>
          </c:tx>
          <c:spPr>
            <a:gradFill rotWithShape="1">
              <a:gsLst>
                <a:gs pos="0">
                  <a:schemeClr val="accent1">
                    <a:tint val="94000"/>
                    <a:satMod val="103000"/>
                    <a:lumMod val="102000"/>
                  </a:schemeClr>
                </a:gs>
                <a:gs pos="50000">
                  <a:schemeClr val="accent1">
                    <a:shade val="100000"/>
                    <a:satMod val="110000"/>
                    <a:lumMod val="100000"/>
                  </a:schemeClr>
                </a:gs>
                <a:gs pos="100000">
                  <a:schemeClr val="accent1">
                    <a:shade val="78000"/>
                    <a:satMod val="120000"/>
                    <a:lumMod val="99000"/>
                  </a:schemeClr>
                </a:gs>
              </a:gsLst>
              <a:lin ang="5400000" scaled="0"/>
            </a:gradFill>
            <a:ln>
              <a:noFill/>
            </a:ln>
            <a:effectLst>
              <a:outerShdw blurRad="57150" dist="19050" dir="5400000" algn="ctr" rotWithShape="0">
                <a:srgbClr val="000000">
                  <a:alpha val="35000"/>
                </a:srgbClr>
              </a:outerShdw>
            </a:effectLst>
            <a:sp3d/>
          </c:spPr>
          <c:invertIfNegative val="0"/>
          <c:cat>
            <c:strRef>
              <c:f>'EMPLOYEE 1'!$A$5:$A$16</c:f>
              <c:strCache>
                <c:ptCount val="11"/>
                <c:pt idx="0">
                  <c:v>BPC</c:v>
                </c:pt>
                <c:pt idx="1">
                  <c:v>CCDR</c:v>
                </c:pt>
                <c:pt idx="2">
                  <c:v>EW</c:v>
                </c:pt>
                <c:pt idx="3">
                  <c:v>MSC</c:v>
                </c:pt>
                <c:pt idx="4">
                  <c:v>NEL</c:v>
                </c:pt>
                <c:pt idx="5">
                  <c:v>PL</c:v>
                </c:pt>
                <c:pt idx="6">
                  <c:v>PYZ</c:v>
                </c:pt>
                <c:pt idx="7">
                  <c:v>SVG</c:v>
                </c:pt>
                <c:pt idx="8">
                  <c:v>TNS</c:v>
                </c:pt>
                <c:pt idx="9">
                  <c:v>WBL</c:v>
                </c:pt>
                <c:pt idx="10">
                  <c:v>(blank)</c:v>
                </c:pt>
              </c:strCache>
            </c:strRef>
          </c:cat>
          <c:val>
            <c:numRef>
              <c:f>'EMPLOYEE 1'!$B$5:$B$16</c:f>
              <c:numCache>
                <c:formatCode>General</c:formatCode>
                <c:ptCount val="11"/>
              </c:numCache>
            </c:numRef>
          </c:val>
          <c:extLst>
            <c:ext xmlns:c16="http://schemas.microsoft.com/office/drawing/2014/chart" uri="{C3380CC4-5D6E-409C-BE32-E72D297353CC}">
              <c16:uniqueId val="{00000000-9E3D-4BE6-9B8C-9296E4945338}"/>
            </c:ext>
          </c:extLst>
        </c:ser>
        <c:ser>
          <c:idx val="1"/>
          <c:order val="1"/>
          <c:tx>
            <c:strRef>
              <c:f>'EMPLOYEE 1'!$C$3:$C$4</c:f>
              <c:strCache>
                <c:ptCount val="1"/>
                <c:pt idx="0">
                  <c:v>HIGH</c:v>
                </c:pt>
              </c:strCache>
            </c:strRef>
          </c:tx>
          <c:spPr>
            <a:gradFill rotWithShape="1">
              <a:gsLst>
                <a:gs pos="0">
                  <a:schemeClr val="accent2">
                    <a:tint val="94000"/>
                    <a:satMod val="103000"/>
                    <a:lumMod val="102000"/>
                  </a:schemeClr>
                </a:gs>
                <a:gs pos="50000">
                  <a:schemeClr val="accent2">
                    <a:shade val="100000"/>
                    <a:satMod val="110000"/>
                    <a:lumMod val="100000"/>
                  </a:schemeClr>
                </a:gs>
                <a:gs pos="100000">
                  <a:schemeClr val="accent2">
                    <a:shade val="78000"/>
                    <a:satMod val="120000"/>
                    <a:lumMod val="99000"/>
                  </a:schemeClr>
                </a:gs>
              </a:gsLst>
              <a:lin ang="5400000" scaled="0"/>
            </a:gradFill>
            <a:ln>
              <a:noFill/>
            </a:ln>
            <a:effectLst>
              <a:outerShdw blurRad="57150" dist="19050" dir="5400000" algn="ctr" rotWithShape="0">
                <a:srgbClr val="000000">
                  <a:alpha val="35000"/>
                </a:srgbClr>
              </a:outerShdw>
            </a:effectLst>
            <a:sp3d/>
          </c:spPr>
          <c:invertIfNegative val="0"/>
          <c:cat>
            <c:strRef>
              <c:f>'EMPLOYEE 1'!$A$5:$A$16</c:f>
              <c:strCache>
                <c:ptCount val="11"/>
                <c:pt idx="0">
                  <c:v>BPC</c:v>
                </c:pt>
                <c:pt idx="1">
                  <c:v>CCDR</c:v>
                </c:pt>
                <c:pt idx="2">
                  <c:v>EW</c:v>
                </c:pt>
                <c:pt idx="3">
                  <c:v>MSC</c:v>
                </c:pt>
                <c:pt idx="4">
                  <c:v>NEL</c:v>
                </c:pt>
                <c:pt idx="5">
                  <c:v>PL</c:v>
                </c:pt>
                <c:pt idx="6">
                  <c:v>PYZ</c:v>
                </c:pt>
                <c:pt idx="7">
                  <c:v>SVG</c:v>
                </c:pt>
                <c:pt idx="8">
                  <c:v>TNS</c:v>
                </c:pt>
                <c:pt idx="9">
                  <c:v>WBL</c:v>
                </c:pt>
                <c:pt idx="10">
                  <c:v>(blank)</c:v>
                </c:pt>
              </c:strCache>
            </c:strRef>
          </c:cat>
          <c:val>
            <c:numRef>
              <c:f>'EMPLOYEE 1'!$C$5:$C$16</c:f>
              <c:numCache>
                <c:formatCode>General</c:formatCode>
                <c:ptCount val="11"/>
                <c:pt idx="0">
                  <c:v>37</c:v>
                </c:pt>
                <c:pt idx="1">
                  <c:v>45</c:v>
                </c:pt>
                <c:pt idx="2">
                  <c:v>41</c:v>
                </c:pt>
                <c:pt idx="3">
                  <c:v>34</c:v>
                </c:pt>
                <c:pt idx="4">
                  <c:v>50</c:v>
                </c:pt>
                <c:pt idx="5">
                  <c:v>50</c:v>
                </c:pt>
                <c:pt idx="6">
                  <c:v>44</c:v>
                </c:pt>
                <c:pt idx="7">
                  <c:v>40</c:v>
                </c:pt>
                <c:pt idx="8">
                  <c:v>38</c:v>
                </c:pt>
                <c:pt idx="9">
                  <c:v>40</c:v>
                </c:pt>
              </c:numCache>
            </c:numRef>
          </c:val>
          <c:extLst>
            <c:ext xmlns:c16="http://schemas.microsoft.com/office/drawing/2014/chart" uri="{C3380CC4-5D6E-409C-BE32-E72D297353CC}">
              <c16:uniqueId val="{00000001-9E3D-4BE6-9B8C-9296E4945338}"/>
            </c:ext>
          </c:extLst>
        </c:ser>
        <c:ser>
          <c:idx val="2"/>
          <c:order val="2"/>
          <c:tx>
            <c:strRef>
              <c:f>'EMPLOYEE 1'!$D$3:$D$4</c:f>
              <c:strCache>
                <c:ptCount val="1"/>
                <c:pt idx="0">
                  <c:v>LOW</c:v>
                </c:pt>
              </c:strCache>
            </c:strRef>
          </c:tx>
          <c:spPr>
            <a:gradFill rotWithShape="1">
              <a:gsLst>
                <a:gs pos="0">
                  <a:schemeClr val="accent3">
                    <a:tint val="94000"/>
                    <a:satMod val="103000"/>
                    <a:lumMod val="102000"/>
                  </a:schemeClr>
                </a:gs>
                <a:gs pos="50000">
                  <a:schemeClr val="accent3">
                    <a:shade val="100000"/>
                    <a:satMod val="110000"/>
                    <a:lumMod val="100000"/>
                  </a:schemeClr>
                </a:gs>
                <a:gs pos="100000">
                  <a:schemeClr val="accent3">
                    <a:shade val="78000"/>
                    <a:satMod val="120000"/>
                    <a:lumMod val="99000"/>
                  </a:schemeClr>
                </a:gs>
              </a:gsLst>
              <a:lin ang="5400000" scaled="0"/>
            </a:gradFill>
            <a:ln>
              <a:noFill/>
            </a:ln>
            <a:effectLst>
              <a:outerShdw blurRad="57150" dist="19050" dir="5400000" algn="ctr" rotWithShape="0">
                <a:srgbClr val="000000">
                  <a:alpha val="35000"/>
                </a:srgbClr>
              </a:outerShdw>
            </a:effectLst>
            <a:sp3d/>
          </c:spPr>
          <c:invertIfNegative val="0"/>
          <c:cat>
            <c:strRef>
              <c:f>'EMPLOYEE 1'!$A$5:$A$16</c:f>
              <c:strCache>
                <c:ptCount val="11"/>
                <c:pt idx="0">
                  <c:v>BPC</c:v>
                </c:pt>
                <c:pt idx="1">
                  <c:v>CCDR</c:v>
                </c:pt>
                <c:pt idx="2">
                  <c:v>EW</c:v>
                </c:pt>
                <c:pt idx="3">
                  <c:v>MSC</c:v>
                </c:pt>
                <c:pt idx="4">
                  <c:v>NEL</c:v>
                </c:pt>
                <c:pt idx="5">
                  <c:v>PL</c:v>
                </c:pt>
                <c:pt idx="6">
                  <c:v>PYZ</c:v>
                </c:pt>
                <c:pt idx="7">
                  <c:v>SVG</c:v>
                </c:pt>
                <c:pt idx="8">
                  <c:v>TNS</c:v>
                </c:pt>
                <c:pt idx="9">
                  <c:v>WBL</c:v>
                </c:pt>
                <c:pt idx="10">
                  <c:v>(blank)</c:v>
                </c:pt>
              </c:strCache>
            </c:strRef>
          </c:cat>
          <c:val>
            <c:numRef>
              <c:f>'EMPLOYEE 1'!$D$5:$D$16</c:f>
              <c:numCache>
                <c:formatCode>General</c:formatCode>
                <c:ptCount val="11"/>
                <c:pt idx="0">
                  <c:v>80</c:v>
                </c:pt>
                <c:pt idx="1">
                  <c:v>89</c:v>
                </c:pt>
                <c:pt idx="2">
                  <c:v>78</c:v>
                </c:pt>
                <c:pt idx="3">
                  <c:v>76</c:v>
                </c:pt>
                <c:pt idx="4">
                  <c:v>73</c:v>
                </c:pt>
                <c:pt idx="5">
                  <c:v>68</c:v>
                </c:pt>
                <c:pt idx="6">
                  <c:v>85</c:v>
                </c:pt>
                <c:pt idx="7">
                  <c:v>78</c:v>
                </c:pt>
                <c:pt idx="8">
                  <c:v>75</c:v>
                </c:pt>
                <c:pt idx="9">
                  <c:v>79</c:v>
                </c:pt>
              </c:numCache>
            </c:numRef>
          </c:val>
          <c:extLst>
            <c:ext xmlns:c16="http://schemas.microsoft.com/office/drawing/2014/chart" uri="{C3380CC4-5D6E-409C-BE32-E72D297353CC}">
              <c16:uniqueId val="{00000002-9E3D-4BE6-9B8C-9296E4945338}"/>
            </c:ext>
          </c:extLst>
        </c:ser>
        <c:ser>
          <c:idx val="3"/>
          <c:order val="3"/>
          <c:tx>
            <c:strRef>
              <c:f>'EMPLOYEE 1'!$E$3:$E$4</c:f>
              <c:strCache>
                <c:ptCount val="1"/>
                <c:pt idx="0">
                  <c:v>MED</c:v>
                </c:pt>
              </c:strCache>
            </c:strRef>
          </c:tx>
          <c:spPr>
            <a:gradFill rotWithShape="1">
              <a:gsLst>
                <a:gs pos="0">
                  <a:schemeClr val="accent4">
                    <a:tint val="94000"/>
                    <a:satMod val="103000"/>
                    <a:lumMod val="102000"/>
                  </a:schemeClr>
                </a:gs>
                <a:gs pos="50000">
                  <a:schemeClr val="accent4">
                    <a:shade val="100000"/>
                    <a:satMod val="110000"/>
                    <a:lumMod val="100000"/>
                  </a:schemeClr>
                </a:gs>
                <a:gs pos="100000">
                  <a:schemeClr val="accent4">
                    <a:shade val="78000"/>
                    <a:satMod val="120000"/>
                    <a:lumMod val="99000"/>
                  </a:schemeClr>
                </a:gs>
              </a:gsLst>
              <a:lin ang="5400000" scaled="0"/>
            </a:gradFill>
            <a:ln>
              <a:noFill/>
            </a:ln>
            <a:effectLst>
              <a:outerShdw blurRad="57150" dist="19050" dir="5400000" algn="ctr" rotWithShape="0">
                <a:srgbClr val="000000">
                  <a:alpha val="35000"/>
                </a:srgbClr>
              </a:outerShdw>
            </a:effectLst>
            <a:sp3d/>
          </c:spPr>
          <c:invertIfNegative val="0"/>
          <c:cat>
            <c:strRef>
              <c:f>'EMPLOYEE 1'!$A$5:$A$16</c:f>
              <c:strCache>
                <c:ptCount val="11"/>
                <c:pt idx="0">
                  <c:v>BPC</c:v>
                </c:pt>
                <c:pt idx="1">
                  <c:v>CCDR</c:v>
                </c:pt>
                <c:pt idx="2">
                  <c:v>EW</c:v>
                </c:pt>
                <c:pt idx="3">
                  <c:v>MSC</c:v>
                </c:pt>
                <c:pt idx="4">
                  <c:v>NEL</c:v>
                </c:pt>
                <c:pt idx="5">
                  <c:v>PL</c:v>
                </c:pt>
                <c:pt idx="6">
                  <c:v>PYZ</c:v>
                </c:pt>
                <c:pt idx="7">
                  <c:v>SVG</c:v>
                </c:pt>
                <c:pt idx="8">
                  <c:v>TNS</c:v>
                </c:pt>
                <c:pt idx="9">
                  <c:v>WBL</c:v>
                </c:pt>
                <c:pt idx="10">
                  <c:v>(blank)</c:v>
                </c:pt>
              </c:strCache>
            </c:strRef>
          </c:cat>
          <c:val>
            <c:numRef>
              <c:f>'EMPLOYEE 1'!$E$5:$E$16</c:f>
              <c:numCache>
                <c:formatCode>General</c:formatCode>
                <c:ptCount val="11"/>
                <c:pt idx="0">
                  <c:v>152</c:v>
                </c:pt>
                <c:pt idx="1">
                  <c:v>141</c:v>
                </c:pt>
                <c:pt idx="2">
                  <c:v>160</c:v>
                </c:pt>
                <c:pt idx="3">
                  <c:v>158</c:v>
                </c:pt>
                <c:pt idx="4">
                  <c:v>158</c:v>
                </c:pt>
                <c:pt idx="5">
                  <c:v>151</c:v>
                </c:pt>
                <c:pt idx="6">
                  <c:v>146</c:v>
                </c:pt>
                <c:pt idx="7">
                  <c:v>156</c:v>
                </c:pt>
                <c:pt idx="8">
                  <c:v>160</c:v>
                </c:pt>
                <c:pt idx="9">
                  <c:v>148</c:v>
                </c:pt>
              </c:numCache>
            </c:numRef>
          </c:val>
          <c:extLst>
            <c:ext xmlns:c16="http://schemas.microsoft.com/office/drawing/2014/chart" uri="{C3380CC4-5D6E-409C-BE32-E72D297353CC}">
              <c16:uniqueId val="{00000003-9E3D-4BE6-9B8C-9296E4945338}"/>
            </c:ext>
          </c:extLst>
        </c:ser>
        <c:ser>
          <c:idx val="4"/>
          <c:order val="4"/>
          <c:tx>
            <c:strRef>
              <c:f>'EMPLOYEE 1'!$F$3:$F$4</c:f>
              <c:strCache>
                <c:ptCount val="1"/>
                <c:pt idx="0">
                  <c:v>VERY HIGH</c:v>
                </c:pt>
              </c:strCache>
            </c:strRef>
          </c:tx>
          <c:spPr>
            <a:gradFill rotWithShape="1">
              <a:gsLst>
                <a:gs pos="0">
                  <a:schemeClr val="accent5">
                    <a:tint val="94000"/>
                    <a:satMod val="103000"/>
                    <a:lumMod val="102000"/>
                  </a:schemeClr>
                </a:gs>
                <a:gs pos="50000">
                  <a:schemeClr val="accent5">
                    <a:shade val="100000"/>
                    <a:satMod val="110000"/>
                    <a:lumMod val="100000"/>
                  </a:schemeClr>
                </a:gs>
                <a:gs pos="100000">
                  <a:schemeClr val="accent5">
                    <a:shade val="78000"/>
                    <a:satMod val="120000"/>
                    <a:lumMod val="99000"/>
                  </a:schemeClr>
                </a:gs>
              </a:gsLst>
              <a:lin ang="5400000" scaled="0"/>
            </a:gradFill>
            <a:ln>
              <a:noFill/>
            </a:ln>
            <a:effectLst>
              <a:outerShdw blurRad="57150" dist="19050" dir="5400000" algn="ctr" rotWithShape="0">
                <a:srgbClr val="000000">
                  <a:alpha val="35000"/>
                </a:srgbClr>
              </a:outerShdw>
            </a:effectLst>
            <a:sp3d/>
          </c:spPr>
          <c:invertIfNegative val="0"/>
          <c:cat>
            <c:strRef>
              <c:f>'EMPLOYEE 1'!$A$5:$A$16</c:f>
              <c:strCache>
                <c:ptCount val="11"/>
                <c:pt idx="0">
                  <c:v>BPC</c:v>
                </c:pt>
                <c:pt idx="1">
                  <c:v>CCDR</c:v>
                </c:pt>
                <c:pt idx="2">
                  <c:v>EW</c:v>
                </c:pt>
                <c:pt idx="3">
                  <c:v>MSC</c:v>
                </c:pt>
                <c:pt idx="4">
                  <c:v>NEL</c:v>
                </c:pt>
                <c:pt idx="5">
                  <c:v>PL</c:v>
                </c:pt>
                <c:pt idx="6">
                  <c:v>PYZ</c:v>
                </c:pt>
                <c:pt idx="7">
                  <c:v>SVG</c:v>
                </c:pt>
                <c:pt idx="8">
                  <c:v>TNS</c:v>
                </c:pt>
                <c:pt idx="9">
                  <c:v>WBL</c:v>
                </c:pt>
                <c:pt idx="10">
                  <c:v>(blank)</c:v>
                </c:pt>
              </c:strCache>
            </c:strRef>
          </c:cat>
          <c:val>
            <c:numRef>
              <c:f>'EMPLOYEE 1'!$F$5:$F$16</c:f>
              <c:numCache>
                <c:formatCode>General</c:formatCode>
                <c:ptCount val="11"/>
                <c:pt idx="0">
                  <c:v>34</c:v>
                </c:pt>
                <c:pt idx="1">
                  <c:v>25</c:v>
                </c:pt>
                <c:pt idx="2">
                  <c:v>23</c:v>
                </c:pt>
                <c:pt idx="3">
                  <c:v>28</c:v>
                </c:pt>
                <c:pt idx="4">
                  <c:v>23</c:v>
                </c:pt>
                <c:pt idx="5">
                  <c:v>32</c:v>
                </c:pt>
                <c:pt idx="6">
                  <c:v>24</c:v>
                </c:pt>
                <c:pt idx="7">
                  <c:v>30</c:v>
                </c:pt>
                <c:pt idx="8">
                  <c:v>24</c:v>
                </c:pt>
                <c:pt idx="9">
                  <c:v>27</c:v>
                </c:pt>
              </c:numCache>
            </c:numRef>
          </c:val>
          <c:extLst>
            <c:ext xmlns:c16="http://schemas.microsoft.com/office/drawing/2014/chart" uri="{C3380CC4-5D6E-409C-BE32-E72D297353CC}">
              <c16:uniqueId val="{00000004-9E3D-4BE6-9B8C-9296E4945338}"/>
            </c:ext>
          </c:extLst>
        </c:ser>
        <c:ser>
          <c:idx val="5"/>
          <c:order val="5"/>
          <c:tx>
            <c:strRef>
              <c:f>'EMPLOYEE 1'!$G$3:$G$4</c:f>
              <c:strCache>
                <c:ptCount val="1"/>
                <c:pt idx="0">
                  <c:v>(blank)</c:v>
                </c:pt>
              </c:strCache>
            </c:strRef>
          </c:tx>
          <c:spPr>
            <a:gradFill rotWithShape="1">
              <a:gsLst>
                <a:gs pos="0">
                  <a:schemeClr val="accent6">
                    <a:tint val="94000"/>
                    <a:satMod val="103000"/>
                    <a:lumMod val="102000"/>
                  </a:schemeClr>
                </a:gs>
                <a:gs pos="50000">
                  <a:schemeClr val="accent6">
                    <a:shade val="100000"/>
                    <a:satMod val="110000"/>
                    <a:lumMod val="100000"/>
                  </a:schemeClr>
                </a:gs>
                <a:gs pos="100000">
                  <a:schemeClr val="accent6">
                    <a:shade val="78000"/>
                    <a:satMod val="120000"/>
                    <a:lumMod val="99000"/>
                  </a:schemeClr>
                </a:gs>
              </a:gsLst>
              <a:lin ang="5400000" scaled="0"/>
            </a:gradFill>
            <a:ln>
              <a:noFill/>
            </a:ln>
            <a:effectLst>
              <a:outerShdw blurRad="57150" dist="19050" dir="5400000" algn="ctr" rotWithShape="0">
                <a:srgbClr val="000000">
                  <a:alpha val="35000"/>
                </a:srgbClr>
              </a:outerShdw>
            </a:effectLst>
            <a:sp3d/>
          </c:spPr>
          <c:invertIfNegative val="0"/>
          <c:cat>
            <c:strRef>
              <c:f>'EMPLOYEE 1'!$A$5:$A$16</c:f>
              <c:strCache>
                <c:ptCount val="11"/>
                <c:pt idx="0">
                  <c:v>BPC</c:v>
                </c:pt>
                <c:pt idx="1">
                  <c:v>CCDR</c:v>
                </c:pt>
                <c:pt idx="2">
                  <c:v>EW</c:v>
                </c:pt>
                <c:pt idx="3">
                  <c:v>MSC</c:v>
                </c:pt>
                <c:pt idx="4">
                  <c:v>NEL</c:v>
                </c:pt>
                <c:pt idx="5">
                  <c:v>PL</c:v>
                </c:pt>
                <c:pt idx="6">
                  <c:v>PYZ</c:v>
                </c:pt>
                <c:pt idx="7">
                  <c:v>SVG</c:v>
                </c:pt>
                <c:pt idx="8">
                  <c:v>TNS</c:v>
                </c:pt>
                <c:pt idx="9">
                  <c:v>WBL</c:v>
                </c:pt>
                <c:pt idx="10">
                  <c:v>(blank)</c:v>
                </c:pt>
              </c:strCache>
            </c:strRef>
          </c:cat>
          <c:val>
            <c:numRef>
              <c:f>'EMPLOYEE 1'!$G$5:$G$16</c:f>
              <c:numCache>
                <c:formatCode>General</c:formatCode>
                <c:ptCount val="11"/>
              </c:numCache>
            </c:numRef>
          </c:val>
          <c:extLst>
            <c:ext xmlns:c16="http://schemas.microsoft.com/office/drawing/2014/chart" uri="{C3380CC4-5D6E-409C-BE32-E72D297353CC}">
              <c16:uniqueId val="{00000005-9E3D-4BE6-9B8C-9296E4945338}"/>
            </c:ext>
          </c:extLst>
        </c:ser>
        <c:dLbls>
          <c:showLegendKey val="0"/>
          <c:showVal val="0"/>
          <c:showCatName val="0"/>
          <c:showSerName val="0"/>
          <c:showPercent val="0"/>
          <c:showBubbleSize val="0"/>
        </c:dLbls>
        <c:gapWidth val="150"/>
        <c:shape val="box"/>
        <c:axId val="892499983"/>
        <c:axId val="892505263"/>
        <c:axId val="0"/>
      </c:bar3DChart>
      <c:catAx>
        <c:axId val="89249998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892505263"/>
        <c:crosses val="autoZero"/>
        <c:auto val="1"/>
        <c:lblAlgn val="ctr"/>
        <c:lblOffset val="100"/>
        <c:noMultiLvlLbl val="0"/>
      </c:catAx>
      <c:valAx>
        <c:axId val="892505263"/>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89249998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Sheet2!$A$3:$B$3</c:f>
              <c:strCache>
                <c:ptCount val="2"/>
                <c:pt idx="0">
                  <c:v>BPC</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Sheet2!$C$3:$H$3</c:f>
              <c:numCache>
                <c:formatCode>General</c:formatCode>
                <c:ptCount val="6"/>
                <c:pt idx="0">
                  <c:v>37</c:v>
                </c:pt>
                <c:pt idx="1">
                  <c:v>80</c:v>
                </c:pt>
                <c:pt idx="2">
                  <c:v>152</c:v>
                </c:pt>
                <c:pt idx="3">
                  <c:v>34</c:v>
                </c:pt>
                <c:pt idx="5">
                  <c:v>303</c:v>
                </c:pt>
              </c:numCache>
            </c:numRef>
          </c:val>
          <c:extLst>
            <c:ext xmlns:c16="http://schemas.microsoft.com/office/drawing/2014/chart" uri="{C3380CC4-5D6E-409C-BE32-E72D297353CC}">
              <c16:uniqueId val="{0000000C-0293-43A6-8E24-FB4DF0C4CC85}"/>
            </c:ext>
          </c:extLst>
        </c:ser>
        <c:ser>
          <c:idx val="1"/>
          <c:order val="1"/>
          <c:tx>
            <c:strRef>
              <c:f>Sheet2!$A$4:$B$4</c:f>
              <c:strCache>
                <c:ptCount val="2"/>
                <c:pt idx="0">
                  <c:v>CCDR</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E-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10-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12-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14-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16-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18-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Sheet2!$C$4:$H$4</c:f>
              <c:numCache>
                <c:formatCode>General</c:formatCode>
                <c:ptCount val="6"/>
                <c:pt idx="0">
                  <c:v>45</c:v>
                </c:pt>
                <c:pt idx="1">
                  <c:v>89</c:v>
                </c:pt>
                <c:pt idx="2">
                  <c:v>141</c:v>
                </c:pt>
                <c:pt idx="3">
                  <c:v>25</c:v>
                </c:pt>
                <c:pt idx="5">
                  <c:v>300</c:v>
                </c:pt>
              </c:numCache>
            </c:numRef>
          </c:val>
          <c:extLst>
            <c:ext xmlns:c16="http://schemas.microsoft.com/office/drawing/2014/chart" uri="{C3380CC4-5D6E-409C-BE32-E72D297353CC}">
              <c16:uniqueId val="{00000019-0293-43A6-8E24-FB4DF0C4CC85}"/>
            </c:ext>
          </c:extLst>
        </c:ser>
        <c:ser>
          <c:idx val="2"/>
          <c:order val="2"/>
          <c:tx>
            <c:strRef>
              <c:f>Sheet2!$A$5:$B$5</c:f>
              <c:strCache>
                <c:ptCount val="2"/>
                <c:pt idx="0">
                  <c:v>EW</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1B-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1D-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1F-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21-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23-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25-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Sheet2!$C$5:$H$5</c:f>
              <c:numCache>
                <c:formatCode>General</c:formatCode>
                <c:ptCount val="6"/>
                <c:pt idx="0">
                  <c:v>41</c:v>
                </c:pt>
                <c:pt idx="1">
                  <c:v>78</c:v>
                </c:pt>
                <c:pt idx="2">
                  <c:v>160</c:v>
                </c:pt>
                <c:pt idx="3">
                  <c:v>23</c:v>
                </c:pt>
                <c:pt idx="5">
                  <c:v>302</c:v>
                </c:pt>
              </c:numCache>
            </c:numRef>
          </c:val>
          <c:extLst>
            <c:ext xmlns:c16="http://schemas.microsoft.com/office/drawing/2014/chart" uri="{C3380CC4-5D6E-409C-BE32-E72D297353CC}">
              <c16:uniqueId val="{00000026-0293-43A6-8E24-FB4DF0C4CC85}"/>
            </c:ext>
          </c:extLst>
        </c:ser>
        <c:ser>
          <c:idx val="3"/>
          <c:order val="3"/>
          <c:tx>
            <c:strRef>
              <c:f>Sheet2!$A$6:$B$6</c:f>
              <c:strCache>
                <c:ptCount val="2"/>
                <c:pt idx="0">
                  <c:v>MSC</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28-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2A-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2C-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2E-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30-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32-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Sheet2!$C$6:$H$6</c:f>
              <c:numCache>
                <c:formatCode>General</c:formatCode>
                <c:ptCount val="6"/>
                <c:pt idx="0">
                  <c:v>34</c:v>
                </c:pt>
                <c:pt idx="1">
                  <c:v>76</c:v>
                </c:pt>
                <c:pt idx="2">
                  <c:v>158</c:v>
                </c:pt>
                <c:pt idx="3">
                  <c:v>28</c:v>
                </c:pt>
                <c:pt idx="5">
                  <c:v>296</c:v>
                </c:pt>
              </c:numCache>
            </c:numRef>
          </c:val>
          <c:extLst>
            <c:ext xmlns:c16="http://schemas.microsoft.com/office/drawing/2014/chart" uri="{C3380CC4-5D6E-409C-BE32-E72D297353CC}">
              <c16:uniqueId val="{00000033-0293-43A6-8E24-FB4DF0C4CC85}"/>
            </c:ext>
          </c:extLst>
        </c:ser>
        <c:ser>
          <c:idx val="4"/>
          <c:order val="4"/>
          <c:tx>
            <c:strRef>
              <c:f>Sheet2!$A$7:$B$7</c:f>
              <c:strCache>
                <c:ptCount val="2"/>
                <c:pt idx="0">
                  <c:v>NEL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35-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37-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39-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3B-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3D-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3F-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Sheet2!$C$7:$H$7</c:f>
              <c:numCache>
                <c:formatCode>General</c:formatCode>
                <c:ptCount val="6"/>
                <c:pt idx="0">
                  <c:v>50</c:v>
                </c:pt>
                <c:pt idx="1">
                  <c:v>73</c:v>
                </c:pt>
                <c:pt idx="2">
                  <c:v>158</c:v>
                </c:pt>
                <c:pt idx="3">
                  <c:v>23</c:v>
                </c:pt>
                <c:pt idx="5">
                  <c:v>304</c:v>
                </c:pt>
              </c:numCache>
            </c:numRef>
          </c:val>
          <c:extLst>
            <c:ext xmlns:c16="http://schemas.microsoft.com/office/drawing/2014/chart" uri="{C3380CC4-5D6E-409C-BE32-E72D297353CC}">
              <c16:uniqueId val="{00000040-0293-43A6-8E24-FB4DF0C4CC85}"/>
            </c:ext>
          </c:extLst>
        </c:ser>
        <c:ser>
          <c:idx val="5"/>
          <c:order val="5"/>
          <c:tx>
            <c:strRef>
              <c:f>Sheet2!$A$8:$B$8</c:f>
              <c:strCache>
                <c:ptCount val="2"/>
                <c:pt idx="0">
                  <c:v>PL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42-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44-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46-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48-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4A-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4C-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Sheet2!$C$8:$H$8</c:f>
              <c:numCache>
                <c:formatCode>General</c:formatCode>
                <c:ptCount val="6"/>
                <c:pt idx="0">
                  <c:v>50</c:v>
                </c:pt>
                <c:pt idx="1">
                  <c:v>68</c:v>
                </c:pt>
                <c:pt idx="2">
                  <c:v>151</c:v>
                </c:pt>
                <c:pt idx="3">
                  <c:v>32</c:v>
                </c:pt>
                <c:pt idx="5">
                  <c:v>301</c:v>
                </c:pt>
              </c:numCache>
            </c:numRef>
          </c:val>
          <c:extLst>
            <c:ext xmlns:c16="http://schemas.microsoft.com/office/drawing/2014/chart" uri="{C3380CC4-5D6E-409C-BE32-E72D297353CC}">
              <c16:uniqueId val="{0000004D-0293-43A6-8E24-FB4DF0C4CC85}"/>
            </c:ext>
          </c:extLst>
        </c:ser>
        <c:ser>
          <c:idx val="6"/>
          <c:order val="6"/>
          <c:tx>
            <c:strRef>
              <c:f>Sheet2!$A$9:$B$9</c:f>
              <c:strCache>
                <c:ptCount val="2"/>
                <c:pt idx="0">
                  <c:v>PYZ</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4F-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51-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53-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55-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57-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59-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Sheet2!$C$9:$H$9</c:f>
              <c:numCache>
                <c:formatCode>General</c:formatCode>
                <c:ptCount val="6"/>
                <c:pt idx="0">
                  <c:v>44</c:v>
                </c:pt>
                <c:pt idx="1">
                  <c:v>85</c:v>
                </c:pt>
                <c:pt idx="2">
                  <c:v>146</c:v>
                </c:pt>
                <c:pt idx="3">
                  <c:v>24</c:v>
                </c:pt>
                <c:pt idx="5">
                  <c:v>299</c:v>
                </c:pt>
              </c:numCache>
            </c:numRef>
          </c:val>
          <c:extLst>
            <c:ext xmlns:c16="http://schemas.microsoft.com/office/drawing/2014/chart" uri="{C3380CC4-5D6E-409C-BE32-E72D297353CC}">
              <c16:uniqueId val="{0000005A-0293-43A6-8E24-FB4DF0C4CC85}"/>
            </c:ext>
          </c:extLst>
        </c:ser>
        <c:ser>
          <c:idx val="7"/>
          <c:order val="7"/>
          <c:tx>
            <c:strRef>
              <c:f>Sheet2!$A$10:$B$10</c:f>
              <c:strCache>
                <c:ptCount val="2"/>
                <c:pt idx="0">
                  <c:v>SVG</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5C-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5E-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60-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62-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64-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66-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Sheet2!$C$10:$H$10</c:f>
              <c:numCache>
                <c:formatCode>General</c:formatCode>
                <c:ptCount val="6"/>
                <c:pt idx="0">
                  <c:v>40</c:v>
                </c:pt>
                <c:pt idx="1">
                  <c:v>78</c:v>
                </c:pt>
                <c:pt idx="2">
                  <c:v>156</c:v>
                </c:pt>
                <c:pt idx="3">
                  <c:v>30</c:v>
                </c:pt>
                <c:pt idx="5">
                  <c:v>304</c:v>
                </c:pt>
              </c:numCache>
            </c:numRef>
          </c:val>
          <c:extLst>
            <c:ext xmlns:c16="http://schemas.microsoft.com/office/drawing/2014/chart" uri="{C3380CC4-5D6E-409C-BE32-E72D297353CC}">
              <c16:uniqueId val="{00000067-0293-43A6-8E24-FB4DF0C4CC85}"/>
            </c:ext>
          </c:extLst>
        </c:ser>
        <c:ser>
          <c:idx val="8"/>
          <c:order val="8"/>
          <c:tx>
            <c:strRef>
              <c:f>Sheet2!$A$11:$B$11</c:f>
              <c:strCache>
                <c:ptCount val="2"/>
                <c:pt idx="0">
                  <c:v>TNS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69-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6B-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6D-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6F-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71-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73-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Sheet2!$C$11:$H$11</c:f>
              <c:numCache>
                <c:formatCode>General</c:formatCode>
                <c:ptCount val="6"/>
                <c:pt idx="0">
                  <c:v>38</c:v>
                </c:pt>
                <c:pt idx="1">
                  <c:v>75</c:v>
                </c:pt>
                <c:pt idx="2">
                  <c:v>160</c:v>
                </c:pt>
                <c:pt idx="3">
                  <c:v>24</c:v>
                </c:pt>
                <c:pt idx="5">
                  <c:v>297</c:v>
                </c:pt>
              </c:numCache>
            </c:numRef>
          </c:val>
          <c:extLst>
            <c:ext xmlns:c16="http://schemas.microsoft.com/office/drawing/2014/chart" uri="{C3380CC4-5D6E-409C-BE32-E72D297353CC}">
              <c16:uniqueId val="{00000074-0293-43A6-8E24-FB4DF0C4CC85}"/>
            </c:ext>
          </c:extLst>
        </c:ser>
        <c:ser>
          <c:idx val="9"/>
          <c:order val="9"/>
          <c:tx>
            <c:strRef>
              <c:f>Sheet2!$A$12:$B$12</c:f>
              <c:strCache>
                <c:ptCount val="2"/>
                <c:pt idx="0">
                  <c:v>WBL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76-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78-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7A-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7C-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7E-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80-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Sheet2!$C$12:$H$12</c:f>
              <c:numCache>
                <c:formatCode>General</c:formatCode>
                <c:ptCount val="6"/>
                <c:pt idx="0">
                  <c:v>40</c:v>
                </c:pt>
                <c:pt idx="1">
                  <c:v>79</c:v>
                </c:pt>
                <c:pt idx="2">
                  <c:v>148</c:v>
                </c:pt>
                <c:pt idx="3">
                  <c:v>27</c:v>
                </c:pt>
                <c:pt idx="5">
                  <c:v>294</c:v>
                </c:pt>
              </c:numCache>
            </c:numRef>
          </c:val>
          <c:extLst>
            <c:ext xmlns:c16="http://schemas.microsoft.com/office/drawing/2014/chart" uri="{C3380CC4-5D6E-409C-BE32-E72D297353CC}">
              <c16:uniqueId val="{00000081-0293-43A6-8E24-FB4DF0C4CC85}"/>
            </c:ext>
          </c:extLst>
        </c:ser>
        <c:ser>
          <c:idx val="10"/>
          <c:order val="10"/>
          <c:tx>
            <c:strRef>
              <c:f>Sheet2!$A$13:$B$13</c:f>
              <c:strCache>
                <c:ptCount val="2"/>
                <c:pt idx="0">
                  <c:v>(blank)</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83-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85-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87-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89-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8B-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8D-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Sheet2!$C$13:$H$13</c:f>
              <c:numCache>
                <c:formatCode>General</c:formatCode>
                <c:ptCount val="6"/>
              </c:numCache>
            </c:numRef>
          </c:val>
          <c:extLst>
            <c:ext xmlns:c16="http://schemas.microsoft.com/office/drawing/2014/chart" uri="{C3380CC4-5D6E-409C-BE32-E72D297353CC}">
              <c16:uniqueId val="{0000008E-0293-43A6-8E24-FB4DF0C4CC85}"/>
            </c:ext>
          </c:extLst>
        </c:ser>
        <c:ser>
          <c:idx val="11"/>
          <c:order val="11"/>
          <c:tx>
            <c:strRef>
              <c:f>Sheet2!$A$14:$B$14</c:f>
              <c:strCache>
                <c:ptCount val="2"/>
                <c:pt idx="0">
                  <c:v>Grand Total</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90-0293-43A6-8E24-FB4DF0C4CC8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92-0293-43A6-8E24-FB4DF0C4CC8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94-0293-43A6-8E24-FB4DF0C4CC8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96-0293-43A6-8E24-FB4DF0C4CC85}"/>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98-0293-43A6-8E24-FB4DF0C4CC85}"/>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9A-0293-43A6-8E24-FB4DF0C4CC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Sheet2!$C$1:$H$2</c:f>
              <c:strCache>
                <c:ptCount val="6"/>
                <c:pt idx="0">
                  <c:v>HIGH</c:v>
                </c:pt>
                <c:pt idx="1">
                  <c:v>LOW</c:v>
                </c:pt>
                <c:pt idx="2">
                  <c:v>MED</c:v>
                </c:pt>
                <c:pt idx="3">
                  <c:v>VERY HIGH</c:v>
                </c:pt>
                <c:pt idx="4">
                  <c:v>(blank)</c:v>
                </c:pt>
                <c:pt idx="5">
                  <c:v>Grand Total</c:v>
                </c:pt>
              </c:strCache>
            </c:strRef>
          </c:cat>
          <c:val>
            <c:numRef>
              <c:f>Sheet2!$C$14:$H$14</c:f>
              <c:numCache>
                <c:formatCode>General</c:formatCode>
                <c:ptCount val="6"/>
                <c:pt idx="0">
                  <c:v>419</c:v>
                </c:pt>
                <c:pt idx="1">
                  <c:v>781</c:v>
                </c:pt>
                <c:pt idx="2">
                  <c:v>1530</c:v>
                </c:pt>
                <c:pt idx="3">
                  <c:v>270</c:v>
                </c:pt>
                <c:pt idx="5">
                  <c:v>3000</c:v>
                </c:pt>
              </c:numCache>
            </c:numRef>
          </c:val>
          <c:extLst>
            <c:ext xmlns:c16="http://schemas.microsoft.com/office/drawing/2014/chart" uri="{C3380CC4-5D6E-409C-BE32-E72D297353CC}">
              <c16:uniqueId val="{0000009B-0293-43A6-8E24-FB4DF0C4CC85}"/>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8/31/2024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8/31/2024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8/31/2024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8/31/2024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8/31/2024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8/31/2024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8/31/2024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8/31/2024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ublicdomainpictures.net/en/view-image.php?image=41013&amp;picture=agenda"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pngall.com/light-bulb-png/"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openclipart.org/detail/13088/pen-&amp;-pencil-by-anonymous-13088"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peoplemattersglobal.com/article/empower-her/2019-sees-the-highest-percentage-of-women-in-senior-management-globally-report-21036"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wallpaperflare.com/bright-idea-standing-out-concept-with-light-bulbs-art-background-wallpaper-aecer/download/2560x1440" TargetMode="Externa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pngall.com/data-center-png/"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1676-9FFD-9A03-CED8-EA53469240AD}"/>
              </a:ext>
            </a:extLst>
          </p:cNvPr>
          <p:cNvSpPr>
            <a:spLocks noGrp="1"/>
          </p:cNvSpPr>
          <p:nvPr>
            <p:ph type="ctrTitle"/>
          </p:nvPr>
        </p:nvSpPr>
        <p:spPr>
          <a:xfrm>
            <a:off x="1915128" y="1788454"/>
            <a:ext cx="8361229" cy="1011307"/>
          </a:xfrm>
        </p:spPr>
        <p:txBody>
          <a:bodyPr/>
          <a:lstStyle/>
          <a:p>
            <a:r>
              <a:rPr lang="en-IN" sz="3200" dirty="0"/>
              <a:t>EMPLOYEE DATA ANALYISIS USING EXCEL</a:t>
            </a:r>
          </a:p>
        </p:txBody>
      </p:sp>
      <p:sp>
        <p:nvSpPr>
          <p:cNvPr id="3" name="Subtitle 2">
            <a:extLst>
              <a:ext uri="{FF2B5EF4-FFF2-40B4-BE49-F238E27FC236}">
                <a16:creationId xmlns:a16="http://schemas.microsoft.com/office/drawing/2014/main" id="{792F1D73-AB96-17D5-7660-32C48FE6927A}"/>
              </a:ext>
            </a:extLst>
          </p:cNvPr>
          <p:cNvSpPr>
            <a:spLocks noGrp="1"/>
          </p:cNvSpPr>
          <p:nvPr>
            <p:ph type="subTitle" idx="1"/>
          </p:nvPr>
        </p:nvSpPr>
        <p:spPr>
          <a:xfrm>
            <a:off x="2679906" y="3337089"/>
            <a:ext cx="6831673" cy="1705427"/>
          </a:xfrm>
        </p:spPr>
        <p:txBody>
          <a:bodyPr/>
          <a:lstStyle/>
          <a:p>
            <a:pPr algn="l"/>
            <a:r>
              <a:rPr lang="en-IN" dirty="0"/>
              <a:t>STUDENT NAME: SWETHA KS</a:t>
            </a:r>
          </a:p>
          <a:p>
            <a:pPr algn="l"/>
            <a:r>
              <a:rPr lang="en-IN" dirty="0"/>
              <a:t>REGISTER NO: 312209365</a:t>
            </a:r>
          </a:p>
          <a:p>
            <a:pPr algn="l"/>
            <a:r>
              <a:rPr lang="en-IN" dirty="0"/>
              <a:t>DEPARTMENT:BCOM GENERAL</a:t>
            </a:r>
          </a:p>
          <a:p>
            <a:pPr algn="l"/>
            <a:r>
              <a:rPr lang="en-IN" dirty="0"/>
              <a:t>COLLEGE: ANNA ADHARSH COLLEGE FOR WOMEN</a:t>
            </a:r>
          </a:p>
          <a:p>
            <a:pPr algn="l"/>
            <a:endParaRPr lang="en-IN" dirty="0"/>
          </a:p>
          <a:p>
            <a:pPr algn="l"/>
            <a:endParaRPr lang="en-IN" dirty="0"/>
          </a:p>
          <a:p>
            <a:pPr algn="l"/>
            <a:endParaRPr lang="en-IN" dirty="0"/>
          </a:p>
        </p:txBody>
      </p:sp>
    </p:spTree>
    <p:extLst>
      <p:ext uri="{BB962C8B-B14F-4D97-AF65-F5344CB8AC3E}">
        <p14:creationId xmlns:p14="http://schemas.microsoft.com/office/powerpoint/2010/main" val="2784552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3226-1665-20C9-428D-FA44FC0E6374}"/>
              </a:ext>
            </a:extLst>
          </p:cNvPr>
          <p:cNvSpPr>
            <a:spLocks noGrp="1"/>
          </p:cNvSpPr>
          <p:nvPr>
            <p:ph type="title"/>
          </p:nvPr>
        </p:nvSpPr>
        <p:spPr>
          <a:xfrm>
            <a:off x="1371600" y="685800"/>
            <a:ext cx="9601200" cy="1237268"/>
          </a:xfrm>
        </p:spPr>
        <p:txBody>
          <a:bodyPr/>
          <a:lstStyle/>
          <a:p>
            <a:r>
              <a:rPr lang="en-IN" dirty="0"/>
              <a:t>PROJECT TITLE</a:t>
            </a:r>
          </a:p>
        </p:txBody>
      </p:sp>
      <p:sp>
        <p:nvSpPr>
          <p:cNvPr id="3" name="Content Placeholder 2">
            <a:extLst>
              <a:ext uri="{FF2B5EF4-FFF2-40B4-BE49-F238E27FC236}">
                <a16:creationId xmlns:a16="http://schemas.microsoft.com/office/drawing/2014/main" id="{E4D83E96-D20D-86F3-2BEF-5C1A56EB0B06}"/>
              </a:ext>
            </a:extLst>
          </p:cNvPr>
          <p:cNvSpPr>
            <a:spLocks noGrp="1"/>
          </p:cNvSpPr>
          <p:nvPr>
            <p:ph idx="1"/>
          </p:nvPr>
        </p:nvSpPr>
        <p:spPr/>
        <p:txBody>
          <a:bodyPr>
            <a:normAutofit/>
          </a:bodyPr>
          <a:lstStyle/>
          <a:p>
            <a:pPr marL="0" indent="0">
              <a:buNone/>
            </a:pPr>
            <a:r>
              <a:rPr lang="en-IN" sz="3200" dirty="0"/>
              <a:t>Employee Performance Analysis using Excel</a:t>
            </a:r>
          </a:p>
          <a:p>
            <a:pPr marL="0" indent="0">
              <a:buNone/>
            </a:pPr>
            <a:endParaRPr lang="en-IN" sz="3200" dirty="0"/>
          </a:p>
          <a:p>
            <a:pPr marL="0" indent="0">
              <a:buNone/>
            </a:pPr>
            <a:endParaRPr lang="en-IN" sz="3200" dirty="0"/>
          </a:p>
        </p:txBody>
      </p:sp>
    </p:spTree>
    <p:extLst>
      <p:ext uri="{BB962C8B-B14F-4D97-AF65-F5344CB8AC3E}">
        <p14:creationId xmlns:p14="http://schemas.microsoft.com/office/powerpoint/2010/main" val="2548231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11A1-F252-3B22-8A7F-754310EEAACD}"/>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8178EA1F-AF36-B9FD-F603-07008F5CBCCA}"/>
              </a:ext>
            </a:extLst>
          </p:cNvPr>
          <p:cNvSpPr>
            <a:spLocks noGrp="1"/>
          </p:cNvSpPr>
          <p:nvPr>
            <p:ph idx="1"/>
          </p:nvPr>
        </p:nvSpPr>
        <p:spPr>
          <a:xfrm>
            <a:off x="1371600" y="1574276"/>
            <a:ext cx="9601200" cy="4293124"/>
          </a:xfrm>
        </p:spPr>
        <p:txBody>
          <a:bodyPr>
            <a:normAutofit lnSpcReduction="10000"/>
          </a:bodyPr>
          <a:lstStyle/>
          <a:p>
            <a:pPr marL="457200" indent="-457200">
              <a:buFont typeface="+mj-lt"/>
              <a:buAutoNum type="arabicPeriod"/>
            </a:pPr>
            <a:r>
              <a:rPr lang="en-IN" sz="2800" dirty="0"/>
              <a:t>Problem Statement</a:t>
            </a:r>
          </a:p>
          <a:p>
            <a:pPr marL="457200" indent="-457200">
              <a:buFont typeface="+mj-lt"/>
              <a:buAutoNum type="arabicPeriod"/>
            </a:pPr>
            <a:r>
              <a:rPr lang="en-IN" sz="2800" dirty="0"/>
              <a:t>Project Overview</a:t>
            </a:r>
          </a:p>
          <a:p>
            <a:pPr marL="457200" indent="-457200">
              <a:buFont typeface="+mj-lt"/>
              <a:buAutoNum type="arabicPeriod"/>
            </a:pPr>
            <a:r>
              <a:rPr lang="en-IN" sz="2800" dirty="0"/>
              <a:t>End users</a:t>
            </a:r>
          </a:p>
          <a:p>
            <a:pPr marL="457200" indent="-457200">
              <a:buFont typeface="+mj-lt"/>
              <a:buAutoNum type="arabicPeriod"/>
            </a:pPr>
            <a:r>
              <a:rPr lang="en-IN" sz="2800" dirty="0"/>
              <a:t>Our Solution and Proposition</a:t>
            </a:r>
          </a:p>
          <a:p>
            <a:pPr marL="457200" indent="-457200">
              <a:buFont typeface="+mj-lt"/>
              <a:buAutoNum type="arabicPeriod"/>
            </a:pPr>
            <a:r>
              <a:rPr lang="en-IN" sz="2800" dirty="0"/>
              <a:t>Dataset Description</a:t>
            </a:r>
          </a:p>
          <a:p>
            <a:pPr marL="457200" indent="-457200">
              <a:buFont typeface="+mj-lt"/>
              <a:buAutoNum type="arabicPeriod"/>
            </a:pPr>
            <a:r>
              <a:rPr lang="en-IN" sz="2800" dirty="0"/>
              <a:t>Modelling Approach</a:t>
            </a:r>
          </a:p>
          <a:p>
            <a:pPr marL="457200" indent="-457200">
              <a:buFont typeface="+mj-lt"/>
              <a:buAutoNum type="arabicPeriod"/>
            </a:pPr>
            <a:r>
              <a:rPr lang="en-IN" sz="2800" dirty="0"/>
              <a:t>Results and Discussion</a:t>
            </a:r>
          </a:p>
          <a:p>
            <a:pPr marL="457200" indent="-457200">
              <a:buFont typeface="+mj-lt"/>
              <a:buAutoNum type="arabicPeriod"/>
            </a:pPr>
            <a:r>
              <a:rPr lang="en-IN" sz="2800" dirty="0"/>
              <a:t>Conclusion</a:t>
            </a:r>
          </a:p>
        </p:txBody>
      </p:sp>
      <p:pic>
        <p:nvPicPr>
          <p:cNvPr id="5" name="Picture 4">
            <a:extLst>
              <a:ext uri="{FF2B5EF4-FFF2-40B4-BE49-F238E27FC236}">
                <a16:creationId xmlns:a16="http://schemas.microsoft.com/office/drawing/2014/main" id="{07FE5A4B-64AA-7383-AF0F-83F864486BD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379616" y="685800"/>
            <a:ext cx="3074709" cy="2882540"/>
          </a:xfrm>
          <a:prstGeom prst="rect">
            <a:avLst/>
          </a:prstGeom>
        </p:spPr>
      </p:pic>
    </p:spTree>
    <p:extLst>
      <p:ext uri="{BB962C8B-B14F-4D97-AF65-F5344CB8AC3E}">
        <p14:creationId xmlns:p14="http://schemas.microsoft.com/office/powerpoint/2010/main" val="2672401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55C0A-023B-BCF2-14E5-6525AF3DDDD7}"/>
              </a:ext>
            </a:extLst>
          </p:cNvPr>
          <p:cNvSpPr>
            <a:spLocks noGrp="1"/>
          </p:cNvSpPr>
          <p:nvPr>
            <p:ph type="title"/>
          </p:nvPr>
        </p:nvSpPr>
        <p:spPr>
          <a:xfrm>
            <a:off x="1371600" y="685800"/>
            <a:ext cx="9601200" cy="973318"/>
          </a:xfrm>
        </p:spPr>
        <p:txBody>
          <a:bodyPr/>
          <a:lstStyle/>
          <a:p>
            <a:r>
              <a:rPr lang="en-IN" dirty="0"/>
              <a:t>PROBLEM STATEMENT</a:t>
            </a:r>
          </a:p>
        </p:txBody>
      </p:sp>
      <p:sp>
        <p:nvSpPr>
          <p:cNvPr id="3" name="Content Placeholder 2">
            <a:extLst>
              <a:ext uri="{FF2B5EF4-FFF2-40B4-BE49-F238E27FC236}">
                <a16:creationId xmlns:a16="http://schemas.microsoft.com/office/drawing/2014/main" id="{3DBECF07-58F0-4CB3-BB17-C1181E4C0815}"/>
              </a:ext>
            </a:extLst>
          </p:cNvPr>
          <p:cNvSpPr>
            <a:spLocks noGrp="1"/>
          </p:cNvSpPr>
          <p:nvPr>
            <p:ph idx="1"/>
          </p:nvPr>
        </p:nvSpPr>
        <p:spPr>
          <a:xfrm>
            <a:off x="1219200" y="1545996"/>
            <a:ext cx="9601200" cy="4311977"/>
          </a:xfrm>
        </p:spPr>
        <p:txBody>
          <a:bodyPr>
            <a:normAutofit lnSpcReduction="10000"/>
          </a:bodyPr>
          <a:lstStyle/>
          <a:p>
            <a:pPr marL="0" indent="0">
              <a:buNone/>
            </a:pPr>
            <a:r>
              <a:rPr lang="en-IN" sz="2400" dirty="0"/>
              <a:t>The company aims to improve productivity by </a:t>
            </a:r>
            <a:r>
              <a:rPr lang="en-IN" sz="2400" dirty="0" err="1"/>
              <a:t>analyzing</a:t>
            </a:r>
            <a:r>
              <a:rPr lang="en-IN" sz="2400" dirty="0"/>
              <a:t> employee performance using Excel.</a:t>
            </a:r>
          </a:p>
          <a:p>
            <a:pPr marL="0" indent="0">
              <a:buNone/>
            </a:pPr>
            <a:r>
              <a:rPr lang="en-IN" sz="2400" dirty="0"/>
              <a:t> The current evaluation methods lack consistency, making it difficult to identify top and underperforming employees.</a:t>
            </a:r>
          </a:p>
          <a:p>
            <a:pPr marL="0" indent="0">
              <a:buNone/>
            </a:pPr>
            <a:r>
              <a:rPr lang="en-IN" sz="2400" dirty="0"/>
              <a:t> By collecting key metrics like task completion rates, sales achievements, and attendance, the goal is to create a transparent performance analysis system. </a:t>
            </a:r>
          </a:p>
          <a:p>
            <a:pPr marL="0" indent="0">
              <a:buNone/>
            </a:pPr>
            <a:r>
              <a:rPr lang="en-IN" sz="2400" dirty="0"/>
              <a:t>This system will allow for data-driven decisions on recognition, development, and areas needing improvement.</a:t>
            </a:r>
          </a:p>
          <a:p>
            <a:pPr marL="0" indent="0">
              <a:buNone/>
            </a:pPr>
            <a:r>
              <a:rPr lang="en-IN" sz="2400" dirty="0"/>
              <a:t> Excel will serve as the tool to organize, </a:t>
            </a:r>
            <a:r>
              <a:rPr lang="en-IN" sz="2400" dirty="0" err="1"/>
              <a:t>analyze</a:t>
            </a:r>
            <a:r>
              <a:rPr lang="en-IN" sz="2400" dirty="0"/>
              <a:t>, and visualize the performance data effectively.</a:t>
            </a:r>
          </a:p>
        </p:txBody>
      </p:sp>
      <p:pic>
        <p:nvPicPr>
          <p:cNvPr id="5" name="Picture 4">
            <a:extLst>
              <a:ext uri="{FF2B5EF4-FFF2-40B4-BE49-F238E27FC236}">
                <a16:creationId xmlns:a16="http://schemas.microsoft.com/office/drawing/2014/main" id="{2647BF4B-A4CE-5EF4-7019-A52968A230B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184274" y="96873"/>
            <a:ext cx="1881852" cy="2660468"/>
          </a:xfrm>
          <a:prstGeom prst="rect">
            <a:avLst/>
          </a:prstGeom>
        </p:spPr>
      </p:pic>
    </p:spTree>
    <p:extLst>
      <p:ext uri="{BB962C8B-B14F-4D97-AF65-F5344CB8AC3E}">
        <p14:creationId xmlns:p14="http://schemas.microsoft.com/office/powerpoint/2010/main" val="1180879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E045-1C69-8B76-D65D-63D8510CA8B8}"/>
              </a:ext>
            </a:extLst>
          </p:cNvPr>
          <p:cNvSpPr>
            <a:spLocks noGrp="1"/>
          </p:cNvSpPr>
          <p:nvPr>
            <p:ph type="title"/>
          </p:nvPr>
        </p:nvSpPr>
        <p:spPr>
          <a:xfrm>
            <a:off x="1371600" y="565608"/>
            <a:ext cx="9601200" cy="1813482"/>
          </a:xfrm>
        </p:spPr>
        <p:txBody>
          <a:bodyPr>
            <a:normAutofit/>
          </a:bodyPr>
          <a:lstStyle/>
          <a:p>
            <a:r>
              <a:rPr lang="en-IN" dirty="0"/>
              <a:t>PROJECT OVERVIEW</a:t>
            </a:r>
          </a:p>
        </p:txBody>
      </p:sp>
      <p:sp>
        <p:nvSpPr>
          <p:cNvPr id="3" name="Content Placeholder 2">
            <a:extLst>
              <a:ext uri="{FF2B5EF4-FFF2-40B4-BE49-F238E27FC236}">
                <a16:creationId xmlns:a16="http://schemas.microsoft.com/office/drawing/2014/main" id="{42C8EF1E-F9E8-11D1-6C8A-06E401FC4598}"/>
              </a:ext>
            </a:extLst>
          </p:cNvPr>
          <p:cNvSpPr>
            <a:spLocks noGrp="1"/>
          </p:cNvSpPr>
          <p:nvPr>
            <p:ph idx="1"/>
          </p:nvPr>
        </p:nvSpPr>
        <p:spPr>
          <a:xfrm>
            <a:off x="1371600" y="1451728"/>
            <a:ext cx="8008070" cy="4415672"/>
          </a:xfrm>
        </p:spPr>
        <p:txBody>
          <a:bodyPr>
            <a:normAutofit/>
          </a:bodyPr>
          <a:lstStyle/>
          <a:p>
            <a:r>
              <a:rPr lang="en-IN" sz="2400" dirty="0"/>
              <a:t>Objective: The goal of this project is to assess and improve the performance of employees by </a:t>
            </a:r>
            <a:r>
              <a:rPr lang="en-IN" sz="2400" dirty="0" err="1"/>
              <a:t>analyzing</a:t>
            </a:r>
            <a:r>
              <a:rPr lang="en-IN" sz="2400" dirty="0"/>
              <a:t> key performance indicators (KPIs), identifying trends, and providing actionable insights to management for decision-making.</a:t>
            </a:r>
          </a:p>
          <a:p>
            <a:r>
              <a:rPr lang="en-IN" sz="2400" dirty="0"/>
              <a:t>Scope: Data Collection: Gather data from various sources such as performance reviews, sales data, attendance records, and employee </a:t>
            </a:r>
            <a:r>
              <a:rPr lang="en-IN" sz="2400" dirty="0" err="1"/>
              <a:t>feedback.Data</a:t>
            </a:r>
            <a:r>
              <a:rPr lang="en-IN" sz="2400" dirty="0"/>
              <a:t> Analysis: Use statistical and machine</a:t>
            </a:r>
          </a:p>
        </p:txBody>
      </p:sp>
      <p:pic>
        <p:nvPicPr>
          <p:cNvPr id="5" name="Picture 4">
            <a:extLst>
              <a:ext uri="{FF2B5EF4-FFF2-40B4-BE49-F238E27FC236}">
                <a16:creationId xmlns:a16="http://schemas.microsoft.com/office/drawing/2014/main" id="{34EEC288-0125-A28B-DDC0-0EED336D1FD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160683" y="2379090"/>
            <a:ext cx="2669956" cy="2410748"/>
          </a:xfrm>
          <a:prstGeom prst="rect">
            <a:avLst/>
          </a:prstGeom>
        </p:spPr>
      </p:pic>
    </p:spTree>
    <p:extLst>
      <p:ext uri="{BB962C8B-B14F-4D97-AF65-F5344CB8AC3E}">
        <p14:creationId xmlns:p14="http://schemas.microsoft.com/office/powerpoint/2010/main" val="13480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8C9A-E437-0989-9372-2A9893D2873D}"/>
              </a:ext>
            </a:extLst>
          </p:cNvPr>
          <p:cNvSpPr>
            <a:spLocks noGrp="1"/>
          </p:cNvSpPr>
          <p:nvPr>
            <p:ph type="title"/>
          </p:nvPr>
        </p:nvSpPr>
        <p:spPr/>
        <p:txBody>
          <a:bodyPr>
            <a:normAutofit/>
          </a:bodyPr>
          <a:lstStyle/>
          <a:p>
            <a:r>
              <a:rPr lang="en-IN" dirty="0"/>
              <a:t>WHO ARE THE END USER’S</a:t>
            </a:r>
          </a:p>
        </p:txBody>
      </p:sp>
      <p:sp>
        <p:nvSpPr>
          <p:cNvPr id="3" name="Content Placeholder 2">
            <a:extLst>
              <a:ext uri="{FF2B5EF4-FFF2-40B4-BE49-F238E27FC236}">
                <a16:creationId xmlns:a16="http://schemas.microsoft.com/office/drawing/2014/main" id="{612EEE9B-3692-D30A-D845-EF04E8BDBE98}"/>
              </a:ext>
            </a:extLst>
          </p:cNvPr>
          <p:cNvSpPr>
            <a:spLocks noGrp="1"/>
          </p:cNvSpPr>
          <p:nvPr>
            <p:ph idx="1"/>
          </p:nvPr>
        </p:nvSpPr>
        <p:spPr>
          <a:xfrm>
            <a:off x="1371600" y="1668544"/>
            <a:ext cx="9601200" cy="4198856"/>
          </a:xfrm>
        </p:spPr>
        <p:txBody>
          <a:bodyPr>
            <a:normAutofit/>
          </a:bodyPr>
          <a:lstStyle/>
          <a:p>
            <a:pPr marL="0" indent="0">
              <a:buNone/>
            </a:pPr>
            <a:r>
              <a:rPr lang="en-IN" sz="2400" dirty="0"/>
              <a:t>1.Human Resources (HR) Managers</a:t>
            </a:r>
          </a:p>
          <a:p>
            <a:pPr marL="0" indent="0">
              <a:buNone/>
            </a:pPr>
            <a:r>
              <a:rPr lang="en-IN" sz="2400" dirty="0"/>
              <a:t>2. Team Leaders and Supervisors</a:t>
            </a:r>
          </a:p>
          <a:p>
            <a:pPr marL="0" indent="0">
              <a:buNone/>
            </a:pPr>
            <a:r>
              <a:rPr lang="en-IN" sz="2400" dirty="0"/>
              <a:t>3.Senior Management and Executives</a:t>
            </a:r>
          </a:p>
          <a:p>
            <a:pPr marL="0" indent="0">
              <a:buNone/>
            </a:pPr>
            <a:r>
              <a:rPr lang="en-IN" sz="2400" dirty="0"/>
              <a:t>4.Learning and Development (L&amp;D) Specialists</a:t>
            </a:r>
          </a:p>
          <a:p>
            <a:pPr marL="0" indent="0">
              <a:buNone/>
            </a:pPr>
            <a:r>
              <a:rPr lang="en-IN" sz="2400" dirty="0"/>
              <a:t>5.Performance Analysts and Data Analysts</a:t>
            </a:r>
          </a:p>
          <a:p>
            <a:pPr marL="0" indent="0">
              <a:buNone/>
            </a:pPr>
            <a:r>
              <a:rPr lang="en-IN" sz="2400" dirty="0"/>
              <a:t>6.Individual employees.</a:t>
            </a:r>
          </a:p>
          <a:p>
            <a:pPr marL="0" indent="0">
              <a:buNone/>
            </a:pPr>
            <a:r>
              <a:rPr lang="en-IN" sz="2400" dirty="0"/>
              <a:t>7.Organizations.</a:t>
            </a:r>
          </a:p>
          <a:p>
            <a:pPr marL="0" indent="0">
              <a:buNone/>
            </a:pPr>
            <a:r>
              <a:rPr lang="en-IN" sz="2400" dirty="0"/>
              <a:t>Etc.,.</a:t>
            </a:r>
          </a:p>
        </p:txBody>
      </p:sp>
      <p:pic>
        <p:nvPicPr>
          <p:cNvPr id="5" name="Picture 4">
            <a:extLst>
              <a:ext uri="{FF2B5EF4-FFF2-40B4-BE49-F238E27FC236}">
                <a16:creationId xmlns:a16="http://schemas.microsoft.com/office/drawing/2014/main" id="{F1D0EF19-5703-F525-C224-AFE6E684073F}"/>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741759" y="2328421"/>
            <a:ext cx="4191787" cy="2357880"/>
          </a:xfrm>
          <a:prstGeom prst="rect">
            <a:avLst/>
          </a:prstGeom>
        </p:spPr>
      </p:pic>
    </p:spTree>
    <p:extLst>
      <p:ext uri="{BB962C8B-B14F-4D97-AF65-F5344CB8AC3E}">
        <p14:creationId xmlns:p14="http://schemas.microsoft.com/office/powerpoint/2010/main" val="37737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4A8F-A5B1-D5C5-4B55-C61B6FE9E9BE}"/>
              </a:ext>
            </a:extLst>
          </p:cNvPr>
          <p:cNvSpPr>
            <a:spLocks noGrp="1"/>
          </p:cNvSpPr>
          <p:nvPr>
            <p:ph type="title"/>
          </p:nvPr>
        </p:nvSpPr>
        <p:spPr/>
        <p:txBody>
          <a:bodyPr>
            <a:normAutofit/>
          </a:bodyPr>
          <a:lstStyle/>
          <a:p>
            <a:r>
              <a:rPr lang="en-IN" sz="3600" dirty="0"/>
              <a:t>OUR SOLUTION AND ITS VALUE PROPOSITION</a:t>
            </a:r>
          </a:p>
        </p:txBody>
      </p:sp>
      <p:sp>
        <p:nvSpPr>
          <p:cNvPr id="3" name="Content Placeholder 2">
            <a:extLst>
              <a:ext uri="{FF2B5EF4-FFF2-40B4-BE49-F238E27FC236}">
                <a16:creationId xmlns:a16="http://schemas.microsoft.com/office/drawing/2014/main" id="{5CE87D78-1785-9BDF-D697-8C7016EDE299}"/>
              </a:ext>
            </a:extLst>
          </p:cNvPr>
          <p:cNvSpPr>
            <a:spLocks noGrp="1"/>
          </p:cNvSpPr>
          <p:nvPr>
            <p:ph idx="1"/>
          </p:nvPr>
        </p:nvSpPr>
        <p:spPr>
          <a:xfrm>
            <a:off x="1371600" y="1564849"/>
            <a:ext cx="9601200" cy="4302551"/>
          </a:xfrm>
        </p:spPr>
        <p:txBody>
          <a:bodyPr>
            <a:normAutofit/>
          </a:bodyPr>
          <a:lstStyle/>
          <a:p>
            <a:pPr marL="0" indent="0">
              <a:buNone/>
            </a:pPr>
            <a:r>
              <a:rPr lang="en-IN" sz="2400" dirty="0"/>
              <a:t>Conditional formatting</a:t>
            </a:r>
          </a:p>
          <a:p>
            <a:pPr marL="0" indent="0">
              <a:buNone/>
            </a:pPr>
            <a:r>
              <a:rPr lang="en-IN" sz="2400" dirty="0"/>
              <a:t>Filter - to remove missing data</a:t>
            </a:r>
          </a:p>
          <a:p>
            <a:pPr marL="0" indent="0">
              <a:buNone/>
            </a:pPr>
            <a:r>
              <a:rPr lang="en-IN" sz="2400" dirty="0"/>
              <a:t>Formula - to find employees performance level</a:t>
            </a:r>
          </a:p>
          <a:p>
            <a:pPr marL="0" indent="0">
              <a:buNone/>
            </a:pPr>
            <a:r>
              <a:rPr lang="en-IN" sz="2400" dirty="0"/>
              <a:t>Table inserted</a:t>
            </a:r>
          </a:p>
          <a:p>
            <a:pPr marL="0" indent="0">
              <a:buNone/>
            </a:pPr>
            <a:r>
              <a:rPr lang="en-IN" sz="2400" dirty="0"/>
              <a:t>Pivot table – summary</a:t>
            </a:r>
          </a:p>
          <a:p>
            <a:pPr marL="0" indent="0">
              <a:buNone/>
            </a:pPr>
            <a:r>
              <a:rPr lang="en-IN" sz="2400" dirty="0"/>
              <a:t>Graph - visualization</a:t>
            </a:r>
          </a:p>
        </p:txBody>
      </p:sp>
      <p:pic>
        <p:nvPicPr>
          <p:cNvPr id="5" name="Picture 4">
            <a:extLst>
              <a:ext uri="{FF2B5EF4-FFF2-40B4-BE49-F238E27FC236}">
                <a16:creationId xmlns:a16="http://schemas.microsoft.com/office/drawing/2014/main" id="{ADDEBD35-DD41-7828-8C9A-764A4DC9C87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847381" y="2171700"/>
            <a:ext cx="3840127" cy="2258898"/>
          </a:xfrm>
          <a:prstGeom prst="rect">
            <a:avLst/>
          </a:prstGeom>
        </p:spPr>
      </p:pic>
    </p:spTree>
    <p:extLst>
      <p:ext uri="{BB962C8B-B14F-4D97-AF65-F5344CB8AC3E}">
        <p14:creationId xmlns:p14="http://schemas.microsoft.com/office/powerpoint/2010/main" val="181839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1E343-00D3-F2EC-7D2E-69F1C784DD51}"/>
              </a:ext>
            </a:extLst>
          </p:cNvPr>
          <p:cNvSpPr>
            <a:spLocks noGrp="1"/>
          </p:cNvSpPr>
          <p:nvPr>
            <p:ph type="title"/>
          </p:nvPr>
        </p:nvSpPr>
        <p:spPr>
          <a:xfrm>
            <a:off x="1371600" y="685800"/>
            <a:ext cx="9601200" cy="1077012"/>
          </a:xfrm>
        </p:spPr>
        <p:txBody>
          <a:bodyPr/>
          <a:lstStyle/>
          <a:p>
            <a:r>
              <a:rPr lang="en-IN" dirty="0"/>
              <a:t>DATASET DESCRIPTION </a:t>
            </a:r>
          </a:p>
        </p:txBody>
      </p:sp>
      <p:sp>
        <p:nvSpPr>
          <p:cNvPr id="3" name="Content Placeholder 2">
            <a:extLst>
              <a:ext uri="{FF2B5EF4-FFF2-40B4-BE49-F238E27FC236}">
                <a16:creationId xmlns:a16="http://schemas.microsoft.com/office/drawing/2014/main" id="{F2003EED-18AE-EE87-5F37-FDB9704CB444}"/>
              </a:ext>
            </a:extLst>
          </p:cNvPr>
          <p:cNvSpPr>
            <a:spLocks noGrp="1"/>
          </p:cNvSpPr>
          <p:nvPr>
            <p:ph idx="1"/>
          </p:nvPr>
        </p:nvSpPr>
        <p:spPr>
          <a:xfrm>
            <a:off x="1371600" y="1498862"/>
            <a:ext cx="9601200" cy="5118754"/>
          </a:xfrm>
        </p:spPr>
        <p:txBody>
          <a:bodyPr>
            <a:normAutofit fontScale="55000" lnSpcReduction="20000"/>
          </a:bodyPr>
          <a:lstStyle/>
          <a:p>
            <a:pPr marL="0" indent="0">
              <a:buNone/>
            </a:pPr>
            <a:endParaRPr lang="en-IN" sz="2400" dirty="0"/>
          </a:p>
          <a:p>
            <a:pPr marL="0" indent="0">
              <a:buNone/>
            </a:pPr>
            <a:r>
              <a:rPr lang="en-IN" sz="4200" dirty="0"/>
              <a:t>Employee Data set has been taken from: Kaggle</a:t>
            </a:r>
          </a:p>
          <a:p>
            <a:pPr marL="0" indent="0">
              <a:buNone/>
            </a:pPr>
            <a:r>
              <a:rPr lang="en-IN" sz="4200" dirty="0"/>
              <a:t>It had 26 Features from which we used only 10 features such as;</a:t>
            </a:r>
          </a:p>
          <a:p>
            <a:pPr marL="0" indent="0">
              <a:buNone/>
            </a:pPr>
            <a:r>
              <a:rPr lang="en-IN" sz="4200" dirty="0"/>
              <a:t>Employee ID numerical data</a:t>
            </a:r>
          </a:p>
          <a:p>
            <a:pPr marL="0" indent="0">
              <a:buNone/>
            </a:pPr>
            <a:r>
              <a:rPr lang="en-IN" sz="4200" dirty="0"/>
              <a:t>First name&amp; Last name – text</a:t>
            </a:r>
          </a:p>
          <a:p>
            <a:pPr marL="0" indent="0">
              <a:buNone/>
            </a:pPr>
            <a:r>
              <a:rPr lang="en-IN" sz="4200" dirty="0"/>
              <a:t>Business unit – categorical</a:t>
            </a:r>
          </a:p>
          <a:p>
            <a:pPr marL="0" indent="0">
              <a:buNone/>
            </a:pPr>
            <a:r>
              <a:rPr lang="en-IN" sz="4200" dirty="0"/>
              <a:t>Employee type – categorical</a:t>
            </a:r>
          </a:p>
          <a:p>
            <a:pPr marL="0" indent="0">
              <a:buNone/>
            </a:pPr>
            <a:r>
              <a:rPr lang="en-IN" sz="4200" dirty="0"/>
              <a:t>Employee classification type – categorical</a:t>
            </a:r>
          </a:p>
          <a:p>
            <a:pPr marL="0" indent="0">
              <a:buNone/>
            </a:pPr>
            <a:r>
              <a:rPr lang="en-IN" sz="4200" dirty="0"/>
              <a:t>Department type – categorical</a:t>
            </a:r>
          </a:p>
          <a:p>
            <a:pPr marL="0" indent="0">
              <a:buNone/>
            </a:pPr>
            <a:r>
              <a:rPr lang="en-IN" sz="4200" dirty="0"/>
              <a:t>Gender – categorical</a:t>
            </a:r>
          </a:p>
          <a:p>
            <a:pPr marL="0" indent="0">
              <a:buNone/>
            </a:pPr>
            <a:r>
              <a:rPr lang="en-IN" sz="4200" dirty="0"/>
              <a:t>Employee rating – numerical</a:t>
            </a:r>
          </a:p>
          <a:p>
            <a:pPr marL="0" indent="0">
              <a:buNone/>
            </a:pPr>
            <a:r>
              <a:rPr lang="en-IN" sz="4200" dirty="0"/>
              <a:t>Performance level - text</a:t>
            </a:r>
          </a:p>
          <a:p>
            <a:endParaRPr lang="en-IN" sz="4200" dirty="0"/>
          </a:p>
          <a:p>
            <a:endParaRPr lang="en-IN" sz="4200" dirty="0"/>
          </a:p>
          <a:p>
            <a:endParaRPr lang="en-IN" sz="2400" dirty="0"/>
          </a:p>
        </p:txBody>
      </p:sp>
      <p:pic>
        <p:nvPicPr>
          <p:cNvPr id="5" name="Picture 4">
            <a:extLst>
              <a:ext uri="{FF2B5EF4-FFF2-40B4-BE49-F238E27FC236}">
                <a16:creationId xmlns:a16="http://schemas.microsoft.com/office/drawing/2014/main" id="{E73492EE-2F96-AFB2-33D6-692F0FD807B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249211" y="2575874"/>
            <a:ext cx="3898409" cy="2573459"/>
          </a:xfrm>
          <a:prstGeom prst="rect">
            <a:avLst/>
          </a:prstGeom>
        </p:spPr>
      </p:pic>
    </p:spTree>
    <p:extLst>
      <p:ext uri="{BB962C8B-B14F-4D97-AF65-F5344CB8AC3E}">
        <p14:creationId xmlns:p14="http://schemas.microsoft.com/office/powerpoint/2010/main" val="399849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CAF5A-6A69-2A2F-1BEA-8FEF72859C6C}"/>
              </a:ext>
            </a:extLst>
          </p:cNvPr>
          <p:cNvSpPr>
            <a:spLocks noGrp="1"/>
          </p:cNvSpPr>
          <p:nvPr>
            <p:ph type="title"/>
          </p:nvPr>
        </p:nvSpPr>
        <p:spPr>
          <a:xfrm>
            <a:off x="1371600" y="685800"/>
            <a:ext cx="9601200" cy="945037"/>
          </a:xfrm>
        </p:spPr>
        <p:txBody>
          <a:bodyPr/>
          <a:lstStyle/>
          <a:p>
            <a:r>
              <a:rPr lang="en-IN" dirty="0"/>
              <a:t>THE “WOW” IN OUR SOLUTION</a:t>
            </a:r>
          </a:p>
        </p:txBody>
      </p:sp>
      <p:sp>
        <p:nvSpPr>
          <p:cNvPr id="3" name="Content Placeholder 2">
            <a:extLst>
              <a:ext uri="{FF2B5EF4-FFF2-40B4-BE49-F238E27FC236}">
                <a16:creationId xmlns:a16="http://schemas.microsoft.com/office/drawing/2014/main" id="{AA2F1BB8-ACD0-80EE-54A4-0393D301196D}"/>
              </a:ext>
            </a:extLst>
          </p:cNvPr>
          <p:cNvSpPr>
            <a:spLocks noGrp="1"/>
          </p:cNvSpPr>
          <p:nvPr>
            <p:ph idx="1"/>
          </p:nvPr>
        </p:nvSpPr>
        <p:spPr>
          <a:xfrm>
            <a:off x="1371600" y="1630837"/>
            <a:ext cx="9601200" cy="4236563"/>
          </a:xfrm>
        </p:spPr>
        <p:txBody>
          <a:bodyPr>
            <a:normAutofit/>
          </a:bodyPr>
          <a:lstStyle/>
          <a:p>
            <a:pPr marL="0" indent="0">
              <a:buNone/>
            </a:pPr>
            <a:r>
              <a:rPr lang="en-IN" sz="2400" dirty="0"/>
              <a:t>Formula used to convert numerical values to text categories=IFS(Z8&gt;=5,"VERY| HIGH",Z8&gt;=4,"HIGH",Z8&gt;=3,"MED", TRUE, "LOW")</a:t>
            </a:r>
          </a:p>
          <a:p>
            <a:pPr marL="0" indent="0">
              <a:buNone/>
            </a:pPr>
            <a:r>
              <a:rPr lang="en-IN" sz="2400" dirty="0"/>
              <a:t>Added slicer to view department wise employee performance</a:t>
            </a:r>
          </a:p>
        </p:txBody>
      </p:sp>
    </p:spTree>
    <p:extLst>
      <p:ext uri="{BB962C8B-B14F-4D97-AF65-F5344CB8AC3E}">
        <p14:creationId xmlns:p14="http://schemas.microsoft.com/office/powerpoint/2010/main" val="840294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FBA0E-C07C-142E-E807-1581CEF24480}"/>
              </a:ext>
            </a:extLst>
          </p:cNvPr>
          <p:cNvSpPr>
            <a:spLocks noGrp="1"/>
          </p:cNvSpPr>
          <p:nvPr>
            <p:ph type="title"/>
          </p:nvPr>
        </p:nvSpPr>
        <p:spPr>
          <a:xfrm>
            <a:off x="1295400" y="346435"/>
            <a:ext cx="9601200" cy="1039305"/>
          </a:xfrm>
        </p:spPr>
        <p:txBody>
          <a:bodyPr/>
          <a:lstStyle/>
          <a:p>
            <a:r>
              <a:rPr lang="en-IN" dirty="0"/>
              <a:t>MODELLING</a:t>
            </a:r>
          </a:p>
        </p:txBody>
      </p:sp>
      <p:sp>
        <p:nvSpPr>
          <p:cNvPr id="3" name="Content Placeholder 2">
            <a:extLst>
              <a:ext uri="{FF2B5EF4-FFF2-40B4-BE49-F238E27FC236}">
                <a16:creationId xmlns:a16="http://schemas.microsoft.com/office/drawing/2014/main" id="{2DA85677-DB06-61FA-8371-825EB3881DD1}"/>
              </a:ext>
            </a:extLst>
          </p:cNvPr>
          <p:cNvSpPr>
            <a:spLocks noGrp="1"/>
          </p:cNvSpPr>
          <p:nvPr>
            <p:ph idx="1"/>
          </p:nvPr>
        </p:nvSpPr>
        <p:spPr>
          <a:xfrm>
            <a:off x="1371600" y="1143000"/>
            <a:ext cx="9601200" cy="5597165"/>
          </a:xfrm>
        </p:spPr>
        <p:txBody>
          <a:bodyPr>
            <a:normAutofit fontScale="40000" lnSpcReduction="20000"/>
          </a:bodyPr>
          <a:lstStyle/>
          <a:p>
            <a:pPr marL="0" indent="0">
              <a:buNone/>
            </a:pPr>
            <a:r>
              <a:rPr lang="en-IN" sz="5500" b="1" dirty="0"/>
              <a:t>Data collection:</a:t>
            </a:r>
          </a:p>
          <a:p>
            <a:pPr marL="0" indent="0">
              <a:buNone/>
            </a:pPr>
            <a:r>
              <a:rPr lang="en-IN" sz="5500" dirty="0"/>
              <a:t>1)Employee data collected from Kaggle</a:t>
            </a:r>
          </a:p>
          <a:p>
            <a:pPr marL="0" indent="0">
              <a:buNone/>
            </a:pPr>
            <a:r>
              <a:rPr lang="en-IN" sz="5500" b="1" dirty="0"/>
              <a:t>Feature collection:</a:t>
            </a:r>
          </a:p>
          <a:p>
            <a:pPr marL="0" indent="0">
              <a:buNone/>
            </a:pPr>
            <a:r>
              <a:rPr lang="en-IN" sz="5500" dirty="0"/>
              <a:t>1) Identified the necessary data that is useful to do performance analysis.</a:t>
            </a:r>
          </a:p>
          <a:p>
            <a:pPr marL="0" indent="0">
              <a:buNone/>
            </a:pPr>
            <a:r>
              <a:rPr lang="en-IN" sz="5500" b="1" dirty="0"/>
              <a:t>Data cleaning:</a:t>
            </a:r>
          </a:p>
          <a:p>
            <a:pPr marL="0" indent="0">
              <a:buNone/>
            </a:pPr>
            <a:r>
              <a:rPr lang="en-IN" sz="5500" dirty="0"/>
              <a:t>1)Identifies missing values using data bar/conditional formatting.</a:t>
            </a:r>
          </a:p>
          <a:p>
            <a:pPr marL="0" indent="0">
              <a:buNone/>
            </a:pPr>
            <a:r>
              <a:rPr lang="en-IN" sz="5500" dirty="0"/>
              <a:t>2)Filtered the missing values</a:t>
            </a:r>
          </a:p>
          <a:p>
            <a:pPr marL="0" indent="0">
              <a:buNone/>
            </a:pPr>
            <a:r>
              <a:rPr lang="en-IN" sz="5500" b="1" dirty="0"/>
              <a:t>Performance level:</a:t>
            </a:r>
          </a:p>
          <a:p>
            <a:pPr marL="0" indent="0">
              <a:buNone/>
            </a:pPr>
            <a:r>
              <a:rPr lang="en-IN" sz="5500" dirty="0"/>
              <a:t>1)Converted employee rating to performance level by using formula</a:t>
            </a:r>
          </a:p>
          <a:p>
            <a:pPr marL="0" indent="0">
              <a:buNone/>
            </a:pPr>
            <a:r>
              <a:rPr lang="en-IN" sz="5500" b="1" dirty="0"/>
              <a:t>Summary</a:t>
            </a:r>
            <a:r>
              <a:rPr lang="en-IN" sz="5500" dirty="0"/>
              <a:t>:</a:t>
            </a:r>
          </a:p>
          <a:p>
            <a:pPr marL="0" indent="0">
              <a:buNone/>
            </a:pPr>
            <a:r>
              <a:rPr lang="en-IN" sz="5500" dirty="0"/>
              <a:t>1)Inserted pivot table</a:t>
            </a:r>
          </a:p>
          <a:p>
            <a:pPr marL="0" indent="0">
              <a:buNone/>
            </a:pPr>
            <a:r>
              <a:rPr lang="en-IN" sz="5500" dirty="0"/>
              <a:t>2)Inserted Business units in Row, performance level in column, count of name in values, gender as filter.</a:t>
            </a:r>
          </a:p>
          <a:p>
            <a:pPr marL="0" indent="0">
              <a:buNone/>
            </a:pPr>
            <a:r>
              <a:rPr lang="en-IN" sz="5500" dirty="0"/>
              <a:t>3)Also added slicer to view Department wise performance of employees.</a:t>
            </a:r>
          </a:p>
          <a:p>
            <a:pPr marL="0" indent="0">
              <a:buNone/>
            </a:pPr>
            <a:endParaRPr lang="en-IN" sz="2900" dirty="0"/>
          </a:p>
          <a:p>
            <a:endParaRPr lang="en-IN" dirty="0"/>
          </a:p>
        </p:txBody>
      </p:sp>
    </p:spTree>
    <p:extLst>
      <p:ext uri="{BB962C8B-B14F-4D97-AF65-F5344CB8AC3E}">
        <p14:creationId xmlns:p14="http://schemas.microsoft.com/office/powerpoint/2010/main" val="2390080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D7EC5D-3112-470D-74F4-1E5EFD517B32}"/>
              </a:ext>
            </a:extLst>
          </p:cNvPr>
          <p:cNvSpPr>
            <a:spLocks noGrp="1"/>
          </p:cNvSpPr>
          <p:nvPr>
            <p:ph idx="1"/>
          </p:nvPr>
        </p:nvSpPr>
        <p:spPr>
          <a:xfrm>
            <a:off x="1371600" y="723900"/>
            <a:ext cx="9601200" cy="5143500"/>
          </a:xfrm>
        </p:spPr>
        <p:txBody>
          <a:bodyPr/>
          <a:lstStyle/>
          <a:p>
            <a:pPr marL="0" indent="0">
              <a:buNone/>
            </a:pPr>
            <a:r>
              <a:rPr lang="en-IN" b="1" dirty="0"/>
              <a:t>Data Visualization</a:t>
            </a:r>
            <a:r>
              <a:rPr lang="en-IN" dirty="0"/>
              <a:t>:</a:t>
            </a:r>
          </a:p>
          <a:p>
            <a:pPr marL="457200" indent="-457200">
              <a:buAutoNum type="arabicParenR"/>
            </a:pPr>
            <a:r>
              <a:rPr lang="en-IN" dirty="0"/>
              <a:t>With the inserted pivot table, created visualization with bar chart</a:t>
            </a:r>
          </a:p>
          <a:p>
            <a:pPr marL="457200" indent="-457200">
              <a:buAutoNum type="arabicParenR"/>
            </a:pPr>
            <a:r>
              <a:rPr lang="en-IN" dirty="0"/>
              <a:t>Slicer to view department wise employee performance.</a:t>
            </a:r>
          </a:p>
          <a:p>
            <a:pPr marL="457200" indent="-457200">
              <a:buAutoNum type="arabicParenR"/>
            </a:pPr>
            <a:r>
              <a:rPr lang="en-IN" dirty="0"/>
              <a:t>With created visualization the insights extracted was made easy to understand easily by anyone</a:t>
            </a:r>
            <a:br>
              <a:rPr lang="en-IN" b="1" dirty="0"/>
            </a:br>
            <a:endParaRPr lang="en-IN" b="1" dirty="0"/>
          </a:p>
        </p:txBody>
      </p:sp>
    </p:spTree>
    <p:extLst>
      <p:ext uri="{BB962C8B-B14F-4D97-AF65-F5344CB8AC3E}">
        <p14:creationId xmlns:p14="http://schemas.microsoft.com/office/powerpoint/2010/main" val="2928972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0B6F6-3946-0279-C423-8E8FE7D727F5}"/>
              </a:ext>
            </a:extLst>
          </p:cNvPr>
          <p:cNvSpPr>
            <a:spLocks noGrp="1"/>
          </p:cNvSpPr>
          <p:nvPr>
            <p:ph type="title"/>
          </p:nvPr>
        </p:nvSpPr>
        <p:spPr>
          <a:xfrm>
            <a:off x="1371600" y="685800"/>
            <a:ext cx="9601200" cy="850769"/>
          </a:xfrm>
        </p:spPr>
        <p:txBody>
          <a:bodyPr/>
          <a:lstStyle/>
          <a:p>
            <a:r>
              <a:rPr lang="en-IN" dirty="0"/>
              <a:t>RESULTS</a:t>
            </a:r>
          </a:p>
        </p:txBody>
      </p:sp>
      <p:graphicFrame>
        <p:nvGraphicFramePr>
          <p:cNvPr id="4" name="Content Placeholder 3">
            <a:extLst>
              <a:ext uri="{FF2B5EF4-FFF2-40B4-BE49-F238E27FC236}">
                <a16:creationId xmlns:a16="http://schemas.microsoft.com/office/drawing/2014/main" id="{F3B0B8A5-7AF6-EF4E-E5AC-063E6DF30D5C}"/>
              </a:ext>
            </a:extLst>
          </p:cNvPr>
          <p:cNvGraphicFramePr>
            <a:graphicFrameLocks noGrp="1"/>
          </p:cNvGraphicFramePr>
          <p:nvPr>
            <p:ph idx="1"/>
            <p:extLst>
              <p:ext uri="{D42A27DB-BD31-4B8C-83A1-F6EECF244321}">
                <p14:modId xmlns:p14="http://schemas.microsoft.com/office/powerpoint/2010/main" val="4197034520"/>
              </p:ext>
            </p:extLst>
          </p:nvPr>
        </p:nvGraphicFramePr>
        <p:xfrm>
          <a:off x="1371600" y="1433513"/>
          <a:ext cx="9601200" cy="44338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49784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17CE1-4A70-752E-144E-3F2151E8FEC0}"/>
              </a:ext>
            </a:extLst>
          </p:cNvPr>
          <p:cNvSpPr>
            <a:spLocks noGrp="1"/>
          </p:cNvSpPr>
          <p:nvPr>
            <p:ph type="title"/>
          </p:nvPr>
        </p:nvSpPr>
        <p:spPr/>
        <p:txBody>
          <a:bodyPr/>
          <a:lstStyle/>
          <a:p>
            <a:r>
              <a:rPr lang="en-IN" dirty="0"/>
              <a:t>RESULTS</a:t>
            </a:r>
          </a:p>
        </p:txBody>
      </p:sp>
      <p:graphicFrame>
        <p:nvGraphicFramePr>
          <p:cNvPr id="4" name="Content Placeholder 3">
            <a:extLst>
              <a:ext uri="{FF2B5EF4-FFF2-40B4-BE49-F238E27FC236}">
                <a16:creationId xmlns:a16="http://schemas.microsoft.com/office/drawing/2014/main" id="{1B754898-2D32-7C73-EBE8-171076774D59}"/>
              </a:ext>
            </a:extLst>
          </p:cNvPr>
          <p:cNvGraphicFramePr>
            <a:graphicFrameLocks noGrp="1"/>
          </p:cNvGraphicFramePr>
          <p:nvPr>
            <p:ph idx="1"/>
          </p:nvPr>
        </p:nvGraphicFramePr>
        <p:xfrm>
          <a:off x="1371600" y="1744663"/>
          <a:ext cx="9601200" cy="41227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935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33D8D-A0CC-538E-CDD5-00304A594067}"/>
              </a:ext>
            </a:extLst>
          </p:cNvPr>
          <p:cNvSpPr>
            <a:spLocks noGrp="1"/>
          </p:cNvSpPr>
          <p:nvPr>
            <p:ph type="title"/>
          </p:nvPr>
        </p:nvSpPr>
        <p:spPr>
          <a:xfrm>
            <a:off x="1371600" y="475661"/>
            <a:ext cx="9601200" cy="1029878"/>
          </a:xfrm>
        </p:spPr>
        <p:txBody>
          <a:bodyPr/>
          <a:lstStyle/>
          <a:p>
            <a:r>
              <a:rPr lang="en-IN" dirty="0"/>
              <a:t>CONCLUSION</a:t>
            </a:r>
          </a:p>
        </p:txBody>
      </p:sp>
      <p:sp>
        <p:nvSpPr>
          <p:cNvPr id="3" name="Content Placeholder 2">
            <a:extLst>
              <a:ext uri="{FF2B5EF4-FFF2-40B4-BE49-F238E27FC236}">
                <a16:creationId xmlns:a16="http://schemas.microsoft.com/office/drawing/2014/main" id="{791373C1-2E47-3AD1-4ECA-934F9FC9ADF4}"/>
              </a:ext>
            </a:extLst>
          </p:cNvPr>
          <p:cNvSpPr>
            <a:spLocks noGrp="1"/>
          </p:cNvSpPr>
          <p:nvPr>
            <p:ph idx="1"/>
          </p:nvPr>
        </p:nvSpPr>
        <p:spPr>
          <a:xfrm>
            <a:off x="1371600" y="1904214"/>
            <a:ext cx="9601200" cy="3963186"/>
          </a:xfrm>
        </p:spPr>
        <p:txBody>
          <a:bodyPr>
            <a:normAutofit/>
          </a:bodyPr>
          <a:lstStyle/>
          <a:p>
            <a:pPr marL="0" indent="0">
              <a:buNone/>
            </a:pPr>
            <a:r>
              <a:rPr lang="en-IN" sz="2400" dirty="0"/>
              <a:t>Need to motivate the employees by giving them different level of tasks by focusing on their performance and strength.</a:t>
            </a:r>
          </a:p>
          <a:p>
            <a:pPr marL="0" indent="0">
              <a:buNone/>
            </a:pPr>
            <a:r>
              <a:rPr lang="en-IN" sz="2400" dirty="0"/>
              <a:t>There is room for improvement to elevate more employees to higher levels of performance.</a:t>
            </a:r>
          </a:p>
          <a:p>
            <a:pPr marL="0" indent="0">
              <a:buNone/>
            </a:pPr>
            <a:r>
              <a:rPr lang="en-IN" sz="2400" dirty="0"/>
              <a:t> It may be beneficial to focus on targeted development programs, enhanced feedback mechanisms, and motivational strategies to help employees enhance their skills and productivity, thereby increasing the overall performance level across the organization.</a:t>
            </a:r>
          </a:p>
        </p:txBody>
      </p:sp>
    </p:spTree>
    <p:extLst>
      <p:ext uri="{BB962C8B-B14F-4D97-AF65-F5344CB8AC3E}">
        <p14:creationId xmlns:p14="http://schemas.microsoft.com/office/powerpoint/2010/main" val="123586757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{AB917805-05AE-47B4-8C2D-393C97BD102C}tf10001105</Template>
  <TotalTime>116</TotalTime>
  <Words>640</Words>
  <Application>Microsoft Office PowerPoint</Application>
  <PresentationFormat>Widescreen</PresentationFormat>
  <Paragraphs>85</Paragraphs>
  <Slides>14</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Franklin Gothic Book</vt:lpstr>
      <vt:lpstr>Crop</vt:lpstr>
      <vt:lpstr>EMPLOYEE DATA ANALYISIS USING EXCEL</vt:lpstr>
      <vt:lpstr>PROJECT TITLE</vt:lpstr>
      <vt:lpstr>AGENDA</vt:lpstr>
      <vt:lpstr>PROBLEM STATEMENT</vt:lpstr>
      <vt:lpstr>PROJECT OVERVIEW</vt:lpstr>
      <vt:lpstr>WHO ARE THE END USER’S</vt:lpstr>
      <vt:lpstr>OUR SOLUTION AND ITS VALUE PROPOSITION</vt:lpstr>
      <vt:lpstr>DATASET DESCRIPTION </vt:lpstr>
      <vt:lpstr>THE “WOW” IN OUR SOLUTION</vt:lpstr>
      <vt:lpstr>MODELLING</vt:lpstr>
      <vt:lpstr>PowerPoint Presentation</vt:lpstr>
      <vt:lpstr>RESULTS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VIGNESH KALADIPET SHANKAR</dc:creator>
  <cp:lastModifiedBy>VIGNESH KALADIPET SHANKAR</cp:lastModifiedBy>
  <cp:revision>2</cp:revision>
  <dcterms:created xsi:type="dcterms:W3CDTF">2024-08-30T15:01:08Z</dcterms:created>
  <dcterms:modified xsi:type="dcterms:W3CDTF">2024-08-31T04:49:44Z</dcterms:modified>
</cp:coreProperties>
</file>